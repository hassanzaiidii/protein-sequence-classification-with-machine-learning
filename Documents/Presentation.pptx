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71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C5A7-D120-410A-B66E-CF2A6E60C4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75B4-A08D-4E02-834A-6CE4DDFDF38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58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C5A7-D120-410A-B66E-CF2A6E60C4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75B4-A08D-4E02-834A-6CE4DDFD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5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C5A7-D120-410A-B66E-CF2A6E60C4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75B4-A08D-4E02-834A-6CE4DDFDF38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862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C5A7-D120-410A-B66E-CF2A6E60C4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75B4-A08D-4E02-834A-6CE4DDFD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C5A7-D120-410A-B66E-CF2A6E60C4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75B4-A08D-4E02-834A-6CE4DDFD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78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C5A7-D120-410A-B66E-CF2A6E60C4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75B4-A08D-4E02-834A-6CE4DDFD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23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C5A7-D120-410A-B66E-CF2A6E60C4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75B4-A08D-4E02-834A-6CE4DDFD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592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929C5A7-D120-410A-B66E-CF2A6E60C4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BC75B4-A08D-4E02-834A-6CE4DDFD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2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C5A7-D120-410A-B66E-CF2A6E60C4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75B4-A08D-4E02-834A-6CE4DDFD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52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C5A7-D120-410A-B66E-CF2A6E60C4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75B4-A08D-4E02-834A-6CE4DDFD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63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C5A7-D120-410A-B66E-CF2A6E60C4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C75B4-A08D-4E02-834A-6CE4DDFDF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71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29C5A7-D120-410A-B66E-CF2A6E60C45A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0BC75B4-A08D-4E02-834A-6CE4DDFDF38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182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F851C3-93B4-C48A-E194-4A7C6FC555C1}"/>
              </a:ext>
            </a:extLst>
          </p:cNvPr>
          <p:cNvSpPr txBox="1"/>
          <p:nvPr/>
        </p:nvSpPr>
        <p:spPr>
          <a:xfrm>
            <a:off x="1867910" y="2474893"/>
            <a:ext cx="78283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A Comparative Machine Learning Approach for Autophagy Protein Classification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423079-3703-4638-A9FF-09FD941C62A9}"/>
              </a:ext>
            </a:extLst>
          </p:cNvPr>
          <p:cNvSpPr txBox="1"/>
          <p:nvPr/>
        </p:nvSpPr>
        <p:spPr>
          <a:xfrm>
            <a:off x="2277344" y="4571606"/>
            <a:ext cx="77927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Syed Hassan Abbas</a:t>
            </a:r>
            <a:br>
              <a:rPr lang="en-US" dirty="0"/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Registration No: 2022-kiu-bs2264</a:t>
            </a:r>
            <a:br>
              <a:rPr lang="en-US" dirty="0"/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Supervisor: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Haffizudin</a:t>
            </a:r>
            <a:br>
              <a:rPr lang="en-US" dirty="0"/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Silicon Global Tech, Gilgit-Baltistan</a:t>
            </a:r>
            <a:br>
              <a:rPr lang="en-US" dirty="0"/>
            </a:b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Department of Artificial Intelligence and Data Science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670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E9433-16AD-4176-ADD0-1FBD45D34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D6AC3B5-7E37-C54F-C7D8-C057B51DD621}"/>
              </a:ext>
            </a:extLst>
          </p:cNvPr>
          <p:cNvSpPr txBox="1">
            <a:spLocks/>
          </p:cNvSpPr>
          <p:nvPr/>
        </p:nvSpPr>
        <p:spPr>
          <a:xfrm>
            <a:off x="1524000" y="868080"/>
            <a:ext cx="9144000" cy="9361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u="sng" dirty="0"/>
              <a:t>Problem Background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659AD7-C18C-3A08-9F1E-FB5F771F7A58}"/>
              </a:ext>
            </a:extLst>
          </p:cNvPr>
          <p:cNvSpPr txBox="1"/>
          <p:nvPr/>
        </p:nvSpPr>
        <p:spPr>
          <a:xfrm>
            <a:off x="1280160" y="1702420"/>
            <a:ext cx="6096000" cy="2498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Why Autophagy Matters: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Critical cellular recycling mechanism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Dysregulation linked to cancer, neurodegenerative diseases, metabolic disorders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Accurate protein identification essential for therapeutic target discovery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4FB5A7-109A-B434-2CF2-441B0B97B0B4}"/>
              </a:ext>
            </a:extLst>
          </p:cNvPr>
          <p:cNvSpPr txBox="1"/>
          <p:nvPr/>
        </p:nvSpPr>
        <p:spPr>
          <a:xfrm>
            <a:off x="1280160" y="4418871"/>
            <a:ext cx="6096000" cy="144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Challenges with Current Methods: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Experimental techniques are slow, costly, and low-throughput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Traditional computational methods lack scalability</a:t>
            </a:r>
          </a:p>
        </p:txBody>
      </p:sp>
    </p:spTree>
    <p:extLst>
      <p:ext uri="{BB962C8B-B14F-4D97-AF65-F5344CB8AC3E}">
        <p14:creationId xmlns:p14="http://schemas.microsoft.com/office/powerpoint/2010/main" val="1594990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4C045-F935-613F-1A67-7F62C1F1C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77ED4EE1-EC00-ACAE-B63F-0AFC8004AFEC}"/>
              </a:ext>
            </a:extLst>
          </p:cNvPr>
          <p:cNvSpPr txBox="1"/>
          <p:nvPr/>
        </p:nvSpPr>
        <p:spPr>
          <a:xfrm>
            <a:off x="1808480" y="1636481"/>
            <a:ext cx="6096000" cy="268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GB" sz="2000" b="1" i="0" dirty="0"/>
              <a:t>Problem Statement</a:t>
            </a:r>
            <a:br>
              <a:rPr lang="en-GB" sz="1800" dirty="0"/>
            </a:br>
            <a:r>
              <a:rPr lang="en-GB" sz="1800" b="0" i="0" dirty="0">
                <a:solidFill>
                  <a:schemeClr val="tx1"/>
                </a:solidFill>
              </a:rPr>
              <a:t>How can we accurately and efficiently classify autophagy-related proteins from raw amino acid </a:t>
            </a:r>
            <a:r>
              <a:rPr lang="en-GB" sz="1600" b="0" i="0" dirty="0">
                <a:solidFill>
                  <a:schemeClr val="tx1"/>
                </a:solidFill>
              </a:rPr>
              <a:t>sequences</a:t>
            </a:r>
            <a:r>
              <a:rPr lang="en-GB" sz="1800" b="0" i="0" dirty="0">
                <a:solidFill>
                  <a:schemeClr val="tx1"/>
                </a:solidFill>
              </a:rPr>
              <a:t> using machine learning, overcoming the limitations of traditional experimental methods and handling inherent challenges like severe class imbalance?</a:t>
            </a:r>
            <a:endParaRPr lang="en-GB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709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74674A-BE30-A948-0414-87966CFD61DD}"/>
              </a:ext>
            </a:extLst>
          </p:cNvPr>
          <p:cNvSpPr txBox="1"/>
          <p:nvPr/>
        </p:nvSpPr>
        <p:spPr>
          <a:xfrm>
            <a:off x="1954970" y="193942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Design and Validate a Novel Deep Learning Framework</a:t>
            </a:r>
          </a:p>
          <a:p>
            <a:r>
              <a:rPr lang="en-US" dirty="0"/>
              <a:t>To Establish a Robust Benchmark</a:t>
            </a:r>
          </a:p>
          <a:p>
            <a:r>
              <a:rPr lang="en-US" dirty="0"/>
              <a:t>To Explore the Efficiency-Accuracy Trade-off</a:t>
            </a:r>
          </a:p>
          <a:p>
            <a:r>
              <a:rPr lang="en-US" dirty="0"/>
              <a:t>To Deliver an Accessible and Functional Prototype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B7A3B-3393-698F-C659-6948A2E3583A}"/>
              </a:ext>
            </a:extLst>
          </p:cNvPr>
          <p:cNvSpPr txBox="1"/>
          <p:nvPr/>
        </p:nvSpPr>
        <p:spPr>
          <a:xfrm>
            <a:off x="1063918" y="1317741"/>
            <a:ext cx="6096000" cy="437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0F1115"/>
                </a:solidFill>
                <a:effectLst/>
                <a:latin typeface="quote-cjk-patch"/>
              </a:rPr>
              <a:t>Project Goals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ACAB2-479B-6182-6613-783EBC39B705}"/>
              </a:ext>
            </a:extLst>
          </p:cNvPr>
          <p:cNvSpPr txBox="1"/>
          <p:nvPr/>
        </p:nvSpPr>
        <p:spPr>
          <a:xfrm>
            <a:off x="1077566" y="3778357"/>
            <a:ext cx="6096000" cy="437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0F1115"/>
                </a:solidFill>
                <a:effectLst/>
                <a:latin typeface="quote-cjk-patch"/>
              </a:rPr>
              <a:t>Project Objectives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99E153-815F-4614-5FC9-2B94AA4AC1DA}"/>
              </a:ext>
            </a:extLst>
          </p:cNvPr>
          <p:cNvSpPr txBox="1"/>
          <p:nvPr/>
        </p:nvSpPr>
        <p:spPr>
          <a:xfrm>
            <a:off x="1954970" y="4444698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0" dirty="0">
                <a:solidFill>
                  <a:srgbClr val="0F1115"/>
                </a:solidFill>
                <a:effectLst/>
                <a:latin typeface="quote-cjk-patch"/>
              </a:rPr>
              <a:t>Architecture Development</a:t>
            </a:r>
          </a:p>
          <a:p>
            <a:r>
              <a:rPr lang="en-US" i="0" dirty="0">
                <a:solidFill>
                  <a:srgbClr val="0F1115"/>
                </a:solidFill>
                <a:effectLst/>
                <a:latin typeface="quote-cjk-patch"/>
              </a:rPr>
              <a:t>Model Training &amp; Validation</a:t>
            </a:r>
          </a:p>
          <a:p>
            <a:r>
              <a:rPr lang="en-US" i="0" dirty="0">
                <a:solidFill>
                  <a:srgbClr val="0F1115"/>
                </a:solidFill>
                <a:effectLst/>
                <a:latin typeface="quote-cjk-patch"/>
              </a:rPr>
              <a:t>Performance Benchmarking</a:t>
            </a:r>
            <a:endParaRPr lang="en-US" dirty="0"/>
          </a:p>
          <a:p>
            <a:r>
              <a:rPr lang="en-US" i="0" dirty="0">
                <a:solidFill>
                  <a:srgbClr val="0F1115"/>
                </a:solidFill>
                <a:effectLst/>
                <a:latin typeface="quote-cjk-patch"/>
              </a:rPr>
              <a:t>Dimensionality Analysis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BD6354-56FE-E9C8-D5DB-5050EEFAD66E}"/>
              </a:ext>
            </a:extLst>
          </p:cNvPr>
          <p:cNvCxnSpPr>
            <a:cxnSpLocks/>
          </p:cNvCxnSpPr>
          <p:nvPr/>
        </p:nvCxnSpPr>
        <p:spPr>
          <a:xfrm>
            <a:off x="1160059" y="4215528"/>
            <a:ext cx="100584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88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F0799-6037-4231-C53C-5A2D9CE28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198C18E-6ED2-D410-BD6A-9EE5BBC0C433}"/>
              </a:ext>
            </a:extLst>
          </p:cNvPr>
          <p:cNvSpPr/>
          <p:nvPr/>
        </p:nvSpPr>
        <p:spPr>
          <a:xfrm>
            <a:off x="-1" y="0"/>
            <a:ext cx="4258101" cy="1725480"/>
          </a:xfrm>
          <a:prstGeom prst="roundRect">
            <a:avLst>
              <a:gd name="adj" fmla="val 4775"/>
            </a:avLst>
          </a:prstGeom>
          <a:solidFill>
            <a:srgbClr val="E8710A"/>
          </a:solidFill>
          <a:ln>
            <a:solidFill>
              <a:srgbClr val="E8710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235EC3-6B48-709F-8E2E-5F6828A436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69" y="240300"/>
            <a:ext cx="859095" cy="7020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5F92A6F-8B34-293C-975E-6900F05CDB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535" y="2584655"/>
            <a:ext cx="1594120" cy="13089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9A4514-1249-1C5A-AEA0-D39AB807234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1460" y="3451213"/>
            <a:ext cx="4694830" cy="2001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368104-BF1A-E08A-636D-5C77C1568A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395" y="1630210"/>
            <a:ext cx="2866406" cy="17771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144E41C-7161-F3A1-36A8-B1F8B03FD45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2" y="368640"/>
            <a:ext cx="2490484" cy="1410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B35419-A7BE-F42A-B286-1632CB0D3A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36" y="4501867"/>
            <a:ext cx="2393950" cy="10363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4B1C49-B955-B6CD-C539-EA1F735DCC83}"/>
              </a:ext>
            </a:extLst>
          </p:cNvPr>
          <p:cNvSpPr txBox="1"/>
          <p:nvPr/>
        </p:nvSpPr>
        <p:spPr>
          <a:xfrm>
            <a:off x="8738886" y="595549"/>
            <a:ext cx="33682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Google </a:t>
            </a:r>
            <a:r>
              <a:rPr lang="en-GB" b="1" dirty="0" err="1"/>
              <a:t>Colab</a:t>
            </a:r>
            <a:r>
              <a:rPr lang="en-GB" b="1" dirty="0"/>
              <a:t>:</a:t>
            </a:r>
            <a:r>
              <a:rPr lang="en-GB" dirty="0"/>
              <a:t> Cloud-based platform for development and execution.</a:t>
            </a:r>
          </a:p>
          <a:p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ABB37E-00EA-49D5-608A-4F264DD74CAC}"/>
              </a:ext>
            </a:extLst>
          </p:cNvPr>
          <p:cNvSpPr txBox="1"/>
          <p:nvPr/>
        </p:nvSpPr>
        <p:spPr>
          <a:xfrm>
            <a:off x="2292011" y="2851048"/>
            <a:ext cx="23939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Python:</a:t>
            </a:r>
            <a:r>
              <a:rPr lang="en-GB" dirty="0"/>
              <a:t> Primary programming language.</a:t>
            </a:r>
          </a:p>
          <a:p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A27B41-9279-9230-90D3-2F861C7CAAAC}"/>
              </a:ext>
            </a:extLst>
          </p:cNvPr>
          <p:cNvSpPr txBox="1"/>
          <p:nvPr/>
        </p:nvSpPr>
        <p:spPr>
          <a:xfrm>
            <a:off x="9194157" y="1975003"/>
            <a:ext cx="29978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Scikit</a:t>
            </a:r>
            <a:r>
              <a:rPr lang="en-GB" b="1" dirty="0"/>
              <a:t>-learn:</a:t>
            </a:r>
            <a:r>
              <a:rPr lang="en-GB" dirty="0"/>
              <a:t> For machine learning models, </a:t>
            </a:r>
            <a:r>
              <a:rPr lang="en-GB" dirty="0" err="1"/>
              <a:t>preprocessing</a:t>
            </a:r>
            <a:r>
              <a:rPr lang="en-GB" dirty="0"/>
              <a:t>, and     evaluation.</a:t>
            </a:r>
          </a:p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1B94BE-21EF-9A0C-CBA4-9B5BCAF945F3}"/>
              </a:ext>
            </a:extLst>
          </p:cNvPr>
          <p:cNvSpPr txBox="1"/>
          <p:nvPr/>
        </p:nvSpPr>
        <p:spPr>
          <a:xfrm>
            <a:off x="2977687" y="4409504"/>
            <a:ext cx="2311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Imbalanced-learn (SMOTE):</a:t>
            </a:r>
            <a:r>
              <a:rPr lang="en-GB" dirty="0"/>
              <a:t> For addressing class imbalance.</a:t>
            </a:r>
          </a:p>
          <a:p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38F07A-A40C-2921-B7F8-EE1EF15ADB20}"/>
              </a:ext>
            </a:extLst>
          </p:cNvPr>
          <p:cNvSpPr txBox="1"/>
          <p:nvPr/>
        </p:nvSpPr>
        <p:spPr>
          <a:xfrm>
            <a:off x="1069992" y="872547"/>
            <a:ext cx="28664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</a:rPr>
              <a:t>Used Tools and Their Purpose :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F1FC3A-EBF4-2D8A-6A11-8923950737D3}"/>
              </a:ext>
            </a:extLst>
          </p:cNvPr>
          <p:cNvSpPr txBox="1"/>
          <p:nvPr/>
        </p:nvSpPr>
        <p:spPr>
          <a:xfrm>
            <a:off x="5705712" y="5280238"/>
            <a:ext cx="46948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Pandas &amp; </a:t>
            </a:r>
            <a:r>
              <a:rPr lang="en-GB" b="1" dirty="0" err="1"/>
              <a:t>NumPy</a:t>
            </a:r>
            <a:r>
              <a:rPr lang="en-GB" b="1" dirty="0"/>
              <a:t>:</a:t>
            </a:r>
            <a:r>
              <a:rPr lang="en-GB" dirty="0"/>
              <a:t> For data manipulation and numerical operations.</a:t>
            </a:r>
          </a:p>
          <a:p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D6D896-CED7-5F82-F72E-D6C63BB3EEFC}"/>
              </a:ext>
            </a:extLst>
          </p:cNvPr>
          <p:cNvSpPr txBox="1"/>
          <p:nvPr/>
        </p:nvSpPr>
        <p:spPr>
          <a:xfrm>
            <a:off x="10266290" y="3555816"/>
            <a:ext cx="15723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Matplotlib</a:t>
            </a:r>
            <a:r>
              <a:rPr lang="en-GB" b="1" dirty="0"/>
              <a:t> &amp; </a:t>
            </a:r>
            <a:r>
              <a:rPr lang="en-GB" b="1" dirty="0" err="1"/>
              <a:t>Seaborn</a:t>
            </a:r>
            <a:r>
              <a:rPr lang="en-GB" b="1" dirty="0"/>
              <a:t>:</a:t>
            </a:r>
            <a:r>
              <a:rPr lang="en-GB" dirty="0"/>
              <a:t> For data visualization and EDA.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0615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C4E19-9388-93BB-E44A-89E4C4A21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569D75F8-2BAB-A92D-15B5-DCD2714C0CED}"/>
              </a:ext>
            </a:extLst>
          </p:cNvPr>
          <p:cNvSpPr txBox="1"/>
          <p:nvPr/>
        </p:nvSpPr>
        <p:spPr>
          <a:xfrm>
            <a:off x="1223680" y="1248646"/>
            <a:ext cx="895240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Step-by-Step Methodology</a:t>
            </a:r>
            <a:br>
              <a:rPr lang="en-GB" sz="2400" dirty="0"/>
            </a:br>
            <a:r>
              <a:rPr lang="en-GB" dirty="0"/>
              <a:t>            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Data Collection &amp; Cleaning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Exploratory Data Analysis (EDA)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 Preprocessing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Feature Extraction (AAC, DPC, CTD)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Model Training (</a:t>
            </a:r>
            <a:r>
              <a:rPr lang="en-GB" dirty="0" err="1"/>
              <a:t>XGBoost</a:t>
            </a:r>
            <a:r>
              <a:rPr lang="en-GB" dirty="0"/>
              <a:t>, SVM)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Handling Class Imbalance (SMOTE)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Feature Selection &amp; Scaling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Model Evaluation &amp; Comparison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6253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20CAF1-F9FF-BF1A-81FB-BD2DB3EAFBEA}"/>
              </a:ext>
            </a:extLst>
          </p:cNvPr>
          <p:cNvSpPr txBox="1"/>
          <p:nvPr/>
        </p:nvSpPr>
        <p:spPr>
          <a:xfrm>
            <a:off x="1191312" y="1320701"/>
            <a:ext cx="789564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Define Data Source, Collection Process and Data Structure :</a:t>
            </a:r>
          </a:p>
          <a:p>
            <a:endParaRPr lang="en-GB" b="1" dirty="0"/>
          </a:p>
          <a:p>
            <a:endParaRPr lang="en-GB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Source: </a:t>
            </a:r>
            <a:r>
              <a:rPr lang="en-GB" dirty="0"/>
              <a:t>Public GitHub repository (</a:t>
            </a:r>
            <a:r>
              <a:rPr lang="en-GB" dirty="0" err="1"/>
              <a:t>khanhlee</a:t>
            </a:r>
            <a:r>
              <a:rPr lang="en-GB" dirty="0"/>
              <a:t>/</a:t>
            </a:r>
            <a:r>
              <a:rPr lang="en-GB" dirty="0" err="1"/>
              <a:t>artpredictor</a:t>
            </a:r>
            <a:r>
              <a:rPr lang="en-GB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Initial Data: </a:t>
            </a:r>
            <a:r>
              <a:rPr lang="en-GB" dirty="0"/>
              <a:t>6,667 protein sequences (959 Autophagy, 5,708 Non-Autophagy).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Structure: </a:t>
            </a:r>
            <a:r>
              <a:rPr lang="en-GB" dirty="0" err="1"/>
              <a:t>Labeled</a:t>
            </a:r>
            <a:r>
              <a:rPr lang="en-GB" dirty="0"/>
              <a:t> sequences with significant class imbalance.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Collection: </a:t>
            </a:r>
            <a:r>
              <a:rPr lang="en-GB" dirty="0"/>
              <a:t>Direct download from the source for analysis.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7DB66A-1DC6-D933-66B9-488640F879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682" y="680614"/>
            <a:ext cx="2399392" cy="13911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CA1DDE-B081-A6FD-EFD6-CB59A6DE2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58" y="4748431"/>
            <a:ext cx="10058400" cy="115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F4BB6-A700-28A6-56DD-D650EE00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88E82-8C85-0BA8-E68F-08467002800E}"/>
              </a:ext>
            </a:extLst>
          </p:cNvPr>
          <p:cNvSpPr txBox="1"/>
          <p:nvPr/>
        </p:nvSpPr>
        <p:spPr>
          <a:xfrm>
            <a:off x="1174645" y="1259175"/>
            <a:ext cx="10416209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                                              </a:t>
            </a:r>
            <a:r>
              <a:rPr lang="en-GB" sz="2400" b="1" dirty="0"/>
              <a:t>EDA Steps and Findings</a:t>
            </a:r>
          </a:p>
          <a:p>
            <a:endParaRPr lang="en-GB" dirty="0"/>
          </a:p>
          <a:p>
            <a:r>
              <a:rPr lang="en-GB" b="1" dirty="0"/>
              <a:t>Class Distribution:</a:t>
            </a:r>
          </a:p>
          <a:p>
            <a:r>
              <a:rPr lang="en-GB" b="1" dirty="0"/>
              <a:t>                             </a:t>
            </a:r>
            <a:r>
              <a:rPr lang="en-GB" dirty="0"/>
              <a:t> Severe imbalance (14% Autophagy, 86% Non-Autophagy).</a:t>
            </a:r>
          </a:p>
          <a:p>
            <a:endParaRPr lang="en-GB" dirty="0"/>
          </a:p>
          <a:p>
            <a:r>
              <a:rPr lang="en-GB" b="1" dirty="0"/>
              <a:t>Sequence Length:</a:t>
            </a:r>
          </a:p>
          <a:p>
            <a:r>
              <a:rPr lang="en-GB" b="1" dirty="0"/>
              <a:t>                              </a:t>
            </a:r>
            <a:r>
              <a:rPr lang="en-GB" dirty="0"/>
              <a:t> High variability (</a:t>
            </a:r>
            <a:r>
              <a:rPr lang="en-GB" dirty="0" err="1"/>
              <a:t>Avg</a:t>
            </a:r>
            <a:r>
              <a:rPr lang="en-GB" dirty="0"/>
              <a:t>: ~522 amino acids, Range: 35 to 7,182).</a:t>
            </a:r>
          </a:p>
          <a:p>
            <a:endParaRPr lang="en-GB" dirty="0"/>
          </a:p>
          <a:p>
            <a:r>
              <a:rPr lang="en-GB" b="1" dirty="0"/>
              <a:t>Amino Acid Composition:</a:t>
            </a:r>
            <a:r>
              <a:rPr lang="en-GB" dirty="0"/>
              <a:t> </a:t>
            </a:r>
          </a:p>
          <a:p>
            <a:r>
              <a:rPr lang="en-GB" dirty="0"/>
              <a:t>                              Analysis revealed differing composition patterns between </a:t>
            </a:r>
          </a:p>
          <a:p>
            <a:r>
              <a:rPr lang="en-GB" dirty="0"/>
              <a:t>the two  classes.</a:t>
            </a:r>
          </a:p>
          <a:p>
            <a:endParaRPr lang="en-GB" dirty="0"/>
          </a:p>
          <a:p>
            <a:r>
              <a:rPr lang="en-GB" b="1" dirty="0"/>
              <a:t>Finding: </a:t>
            </a:r>
          </a:p>
          <a:p>
            <a:r>
              <a:rPr lang="en-GB" b="1" dirty="0"/>
              <a:t>            </a:t>
            </a:r>
            <a:r>
              <a:rPr lang="en-GB" dirty="0"/>
              <a:t> Preprocessing needed to clean data and manage imbalance for effective </a:t>
            </a:r>
            <a:r>
              <a:rPr lang="en-GB" dirty="0" err="1"/>
              <a:t>modeling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5162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C5294-53B3-FC31-62DD-6FDD9C23D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4909E3-8775-7E15-6D1C-FA8E21849218}"/>
              </a:ext>
            </a:extLst>
          </p:cNvPr>
          <p:cNvSpPr txBox="1"/>
          <p:nvPr/>
        </p:nvSpPr>
        <p:spPr>
          <a:xfrm>
            <a:off x="1456764" y="890778"/>
            <a:ext cx="9278471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C00000"/>
                </a:solidFill>
              </a:rPr>
              <a:t>                                                                                                                                                                   </a:t>
            </a:r>
          </a:p>
          <a:p>
            <a:r>
              <a:rPr lang="en-GB" sz="2000" b="1" i="1" dirty="0"/>
              <a:t>                                                    Visual Exploratory Data Analysis :</a:t>
            </a:r>
          </a:p>
          <a:p>
            <a:r>
              <a:rPr lang="en-GB" sz="2000" b="1" i="1" dirty="0"/>
              <a:t>                                                          </a:t>
            </a:r>
          </a:p>
          <a:p>
            <a:r>
              <a:rPr lang="en-GB" sz="2000" b="1" i="1" dirty="0"/>
              <a:t>                                                                                 </a:t>
            </a:r>
          </a:p>
          <a:p>
            <a:endParaRPr lang="en-GB" sz="2000" b="1" i="1" dirty="0"/>
          </a:p>
          <a:p>
            <a:endParaRPr lang="en-GB" sz="2000" b="1" i="1" dirty="0"/>
          </a:p>
          <a:p>
            <a:endParaRPr lang="en-GB" sz="2000" b="1" i="1" dirty="0"/>
          </a:p>
          <a:p>
            <a:endParaRPr lang="en-GB" sz="2000" b="1" i="1" dirty="0"/>
          </a:p>
          <a:p>
            <a:endParaRPr lang="en-GB" sz="2000" b="1" i="1" dirty="0"/>
          </a:p>
          <a:p>
            <a:endParaRPr lang="en-GB" sz="2000" b="1" i="1" dirty="0"/>
          </a:p>
          <a:p>
            <a:endParaRPr lang="en-GB" sz="2000" b="1" i="1" dirty="0"/>
          </a:p>
          <a:p>
            <a:endParaRPr lang="en-GB" sz="2000" b="1" i="1" dirty="0"/>
          </a:p>
          <a:p>
            <a:r>
              <a:rPr lang="en-US" b="1" dirty="0"/>
              <a:t>Training Set:</a:t>
            </a:r>
            <a:r>
              <a:rPr lang="en-US" dirty="0"/>
              <a:t> 85.6% Non-autophagy (5,708) vs 14.4% Autophagy (959) - </a:t>
            </a:r>
            <a:r>
              <a:rPr lang="en-US" b="1" dirty="0"/>
              <a:t>6:1 ratio</a:t>
            </a:r>
            <a:endParaRPr lang="en-US" dirty="0"/>
          </a:p>
          <a:p>
            <a:r>
              <a:rPr lang="en-US" b="1" dirty="0"/>
              <a:t>Testing Set:</a:t>
            </a:r>
            <a:r>
              <a:rPr lang="en-US" dirty="0"/>
              <a:t> 85.6% Non-autophagy (1,141) vs 14.4% Autophagy (192)</a:t>
            </a:r>
          </a:p>
          <a:p>
            <a:r>
              <a:rPr lang="en-US" b="1" dirty="0"/>
              <a:t>Implication:</a:t>
            </a:r>
            <a:r>
              <a:rPr lang="en-US" dirty="0"/>
              <a:t> Models may bias toward majority class → Requires special handling techniques.</a:t>
            </a:r>
            <a:endParaRPr lang="en-GB" sz="1200" b="1" i="1" dirty="0"/>
          </a:p>
          <a:p>
            <a:r>
              <a:rPr lang="en-GB" sz="1200" b="1" i="1" dirty="0"/>
              <a:t>                                     </a:t>
            </a:r>
            <a:endParaRPr lang="en-GB" sz="2400" b="1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DB8D845-C51D-F212-8B74-B98474B49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073" y="2148852"/>
            <a:ext cx="5601852" cy="211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02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3EC00D0-AEA3-8F33-B856-32C523030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841592"/>
              </p:ext>
            </p:extLst>
          </p:nvPr>
        </p:nvGraphicFramePr>
        <p:xfrm>
          <a:off x="336885" y="812888"/>
          <a:ext cx="11550316" cy="5646821"/>
        </p:xfrm>
        <a:graphic>
          <a:graphicData uri="http://schemas.openxmlformats.org/drawingml/2006/table">
            <a:tbl>
              <a:tblPr/>
              <a:tblGrid>
                <a:gridCol w="2635267">
                  <a:extLst>
                    <a:ext uri="{9D8B030D-6E8A-4147-A177-3AD203B41FA5}">
                      <a16:colId xmlns:a16="http://schemas.microsoft.com/office/drawing/2014/main" val="2286411924"/>
                    </a:ext>
                  </a:extLst>
                </a:gridCol>
                <a:gridCol w="2971683">
                  <a:extLst>
                    <a:ext uri="{9D8B030D-6E8A-4147-A177-3AD203B41FA5}">
                      <a16:colId xmlns:a16="http://schemas.microsoft.com/office/drawing/2014/main" val="1968121131"/>
                    </a:ext>
                  </a:extLst>
                </a:gridCol>
                <a:gridCol w="2971683">
                  <a:extLst>
                    <a:ext uri="{9D8B030D-6E8A-4147-A177-3AD203B41FA5}">
                      <a16:colId xmlns:a16="http://schemas.microsoft.com/office/drawing/2014/main" val="1678260481"/>
                    </a:ext>
                  </a:extLst>
                </a:gridCol>
                <a:gridCol w="2971683">
                  <a:extLst>
                    <a:ext uri="{9D8B030D-6E8A-4147-A177-3AD203B41FA5}">
                      <a16:colId xmlns:a16="http://schemas.microsoft.com/office/drawing/2014/main" val="3029294545"/>
                    </a:ext>
                  </a:extLst>
                </a:gridCol>
              </a:tblGrid>
              <a:tr h="310328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800" b="1" dirty="0">
                          <a:effectLst/>
                          <a:latin typeface="quote-cjk-patch"/>
                        </a:rPr>
                        <a:t>Step</a:t>
                      </a:r>
                    </a:p>
                  </a:txBody>
                  <a:tcPr marL="40900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Method/Technique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Action Performed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Why It's Necessary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326635"/>
                  </a:ext>
                </a:extLst>
              </a:tr>
              <a:tr h="68341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1. Data Cleaning</a:t>
                      </a:r>
                    </a:p>
                  </a:txBody>
                  <a:tcPr marL="40900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 dirty="0">
                          <a:effectLst/>
                          <a:latin typeface="quote-cjk-patch"/>
                        </a:rPr>
                        <a:t>Filter Non-standard AAs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Remove/replace characters X, B, U, Z with standard amino acids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These are ambiguous/rare amino acids that cause calculation errors in molecular weight and feature extraction</a:t>
                      </a:r>
                    </a:p>
                  </a:txBody>
                  <a:tcPr marL="54534" marR="40900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6004353"/>
                  </a:ext>
                </a:extLst>
              </a:tr>
              <a:tr h="581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 dirty="0">
                          <a:effectLst/>
                          <a:latin typeface="quote-cjk-patch"/>
                        </a:rPr>
                        <a:t>2. Feature Extraction</a:t>
                      </a:r>
                    </a:p>
                  </a:txBody>
                  <a:tcPr marL="40900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Amino Acid Composition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Calculate percentage of each of 20 standard amino acids per sequence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Provides 20-dimensional feature vector capturing primary protein structure information</a:t>
                      </a:r>
                    </a:p>
                  </a:txBody>
                  <a:tcPr marL="54534" marR="40900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803949"/>
                  </a:ext>
                </a:extLst>
              </a:tr>
              <a:tr h="581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3. Feature Extraction</a:t>
                      </a:r>
                    </a:p>
                  </a:txBody>
                  <a:tcPr marL="40900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 dirty="0">
                          <a:effectLst/>
                          <a:latin typeface="quote-cjk-patch"/>
                        </a:rPr>
                        <a:t>Sequence Statistics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Compute sequence length and molecular weight for each protein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Captures physical properties relevant to protein classification</a:t>
                      </a:r>
                    </a:p>
                  </a:txBody>
                  <a:tcPr marL="54534" marR="40900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422566"/>
                  </a:ext>
                </a:extLst>
              </a:tr>
              <a:tr h="581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 dirty="0">
                          <a:effectLst/>
                          <a:latin typeface="quote-cjk-patch"/>
                        </a:rPr>
                        <a:t>4. Class Imbalance Handling</a:t>
                      </a:r>
                    </a:p>
                  </a:txBody>
                  <a:tcPr marL="40900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SMOTE (Synthetic Minority Oversampling)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Generate synthetic autophagy samples to balance class distribution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Prevents model bias toward majority class (non-autophagy proteins)</a:t>
                      </a:r>
                    </a:p>
                  </a:txBody>
                  <a:tcPr marL="54534" marR="40900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180826"/>
                  </a:ext>
                </a:extLst>
              </a:tr>
              <a:tr h="581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5. Class Imbalance Handling</a:t>
                      </a:r>
                    </a:p>
                  </a:txBody>
                  <a:tcPr marL="40900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SMOTE-ENN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Combine oversampling (SMOTE) with undersampling (Edited Nearest Neighbors)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Reduces noise and overlapping samples while balancing classes</a:t>
                      </a:r>
                    </a:p>
                  </a:txBody>
                  <a:tcPr marL="54534" marR="40900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118564"/>
                  </a:ext>
                </a:extLst>
              </a:tr>
              <a:tr h="581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 dirty="0">
                          <a:effectLst/>
                          <a:latin typeface="quote-cjk-patch"/>
                        </a:rPr>
                        <a:t>6. Data Normalization</a:t>
                      </a:r>
                    </a:p>
                  </a:txBody>
                  <a:tcPr marL="40900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StandardScaler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Scale all features to mean=0, variance=1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Ensures equal contribution of features with different scales (length vs percentages)</a:t>
                      </a:r>
                    </a:p>
                  </a:txBody>
                  <a:tcPr marL="54534" marR="40900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013008"/>
                  </a:ext>
                </a:extLst>
              </a:tr>
              <a:tr h="581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7. Data Encoding</a:t>
                      </a:r>
                    </a:p>
                  </a:txBody>
                  <a:tcPr marL="40900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Label Encoding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fr-FR" sz="800" b="1">
                          <a:effectLst/>
                          <a:latin typeface="quote-cjk-patch"/>
                        </a:rPr>
                        <a:t>Convert "autophagy" → 1, "non_autophagy" → 0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Converts categorical labels to numerical format required by ML algorithms</a:t>
                      </a:r>
                    </a:p>
                  </a:txBody>
                  <a:tcPr marL="54534" marR="40900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215507"/>
                  </a:ext>
                </a:extLst>
              </a:tr>
              <a:tr h="581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8. Data Splitting</a:t>
                      </a:r>
                    </a:p>
                  </a:txBody>
                  <a:tcPr marL="40900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Stratified Split (80/20)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Split data maintaining original class ratio in both sets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Prevents skewed evaluation by ensuring test set reflects real-world distribution</a:t>
                      </a:r>
                    </a:p>
                  </a:txBody>
                  <a:tcPr marL="54534" marR="40900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050472"/>
                  </a:ext>
                </a:extLst>
              </a:tr>
              <a:tr h="5816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 dirty="0">
                          <a:effectLst/>
                          <a:latin typeface="quote-cjk-patch"/>
                        </a:rPr>
                        <a:t>9. Cross-Validation</a:t>
                      </a:r>
                    </a:p>
                  </a:txBody>
                  <a:tcPr marL="40900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>
                          <a:effectLst/>
                          <a:latin typeface="quote-cjk-patch"/>
                        </a:rPr>
                        <a:t>Stratified 5-Fold CV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 dirty="0">
                          <a:effectLst/>
                          <a:latin typeface="quote-cjk-patch"/>
                        </a:rPr>
                        <a:t>Create 5 validation folds preserving class distribution</a:t>
                      </a:r>
                    </a:p>
                  </a:txBody>
                  <a:tcPr marL="54534" marR="54534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800" b="1" dirty="0">
                          <a:effectLst/>
                          <a:latin typeface="quote-cjk-patch"/>
                        </a:rPr>
                        <a:t>Provides robust performance estimation for imbalanced datasets</a:t>
                      </a:r>
                    </a:p>
                  </a:txBody>
                  <a:tcPr marL="54534" marR="40900" marT="34084" marB="340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5157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D0B7590-598A-185B-F0B0-3927C5146DD0}"/>
              </a:ext>
            </a:extLst>
          </p:cNvPr>
          <p:cNvSpPr txBox="1"/>
          <p:nvPr/>
        </p:nvSpPr>
        <p:spPr>
          <a:xfrm>
            <a:off x="529389" y="334622"/>
            <a:ext cx="6096000" cy="40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Data Preprocessing Workflow</a:t>
            </a:r>
          </a:p>
        </p:txBody>
      </p:sp>
    </p:spTree>
    <p:extLst>
      <p:ext uri="{BB962C8B-B14F-4D97-AF65-F5344CB8AC3E}">
        <p14:creationId xmlns:p14="http://schemas.microsoft.com/office/powerpoint/2010/main" val="2699830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BB70A-5FBC-80ED-96FB-990B89710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4D8F78-F901-63BE-2AA0-50705CC0EB8C}"/>
              </a:ext>
            </a:extLst>
          </p:cNvPr>
          <p:cNvSpPr txBox="1"/>
          <p:nvPr/>
        </p:nvSpPr>
        <p:spPr>
          <a:xfrm>
            <a:off x="986589" y="1427926"/>
            <a:ext cx="6096000" cy="4371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0F1115"/>
                </a:solidFill>
                <a:effectLst/>
                <a:latin typeface="quote-cjk-patch"/>
              </a:rPr>
              <a:t>After Pre-Processing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7C151C-C288-CE3C-5AE9-4B55DE2BF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783" y="2769059"/>
            <a:ext cx="8834434" cy="1549093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437051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C99CB-CEC3-CF8B-9416-DA3A61C8E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60A15E-497E-9A21-21D7-C0DF777FAC51}"/>
              </a:ext>
            </a:extLst>
          </p:cNvPr>
          <p:cNvSpPr/>
          <p:nvPr/>
        </p:nvSpPr>
        <p:spPr>
          <a:xfrm>
            <a:off x="854892" y="725553"/>
            <a:ext cx="6833532" cy="5601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C00000"/>
                </a:solidFill>
              </a:rPr>
              <a:t>…..</a:t>
            </a:r>
          </a:p>
          <a:p>
            <a:r>
              <a:rPr lang="en-GB" sz="2800" dirty="0">
                <a:solidFill>
                  <a:srgbClr val="C00000"/>
                </a:solidFill>
              </a:rPr>
              <a:t>                      </a:t>
            </a:r>
            <a:r>
              <a:rPr lang="en-GB" sz="2800" dirty="0"/>
              <a:t> </a:t>
            </a:r>
            <a:r>
              <a:rPr lang="en-GB" sz="2400" b="1" dirty="0"/>
              <a:t>Feature Extraction Methods</a:t>
            </a:r>
            <a:endParaRPr lang="en-GB" sz="2400" dirty="0"/>
          </a:p>
          <a:p>
            <a:endParaRPr lang="en-GB" b="1" dirty="0"/>
          </a:p>
          <a:p>
            <a:r>
              <a:rPr lang="en-GB" b="1" dirty="0"/>
              <a:t> </a:t>
            </a:r>
            <a:r>
              <a:rPr lang="en-GB" sz="2000" b="1" dirty="0"/>
              <a:t>1. Amino Acid Composition (AAC)</a:t>
            </a:r>
          </a:p>
          <a:p>
            <a:r>
              <a:rPr lang="en-GB" b="1" dirty="0"/>
              <a:t>What:</a:t>
            </a:r>
            <a:r>
              <a:rPr lang="en-GB" dirty="0"/>
              <a:t> Relative frequency of each amino acid</a:t>
            </a:r>
          </a:p>
          <a:p>
            <a:r>
              <a:rPr lang="en-GB" b="1" dirty="0"/>
              <a:t>Features:</a:t>
            </a:r>
            <a:r>
              <a:rPr lang="en-GB" dirty="0"/>
              <a:t> 20 per sequence</a:t>
            </a:r>
          </a:p>
          <a:p>
            <a:r>
              <a:rPr lang="en-GB" b="1" dirty="0"/>
              <a:t>Captures:</a:t>
            </a:r>
            <a:r>
              <a:rPr lang="en-GB" dirty="0"/>
              <a:t> Basic compositional information</a:t>
            </a:r>
          </a:p>
          <a:p>
            <a:endParaRPr lang="en-GB" dirty="0"/>
          </a:p>
          <a:p>
            <a:r>
              <a:rPr lang="en-GB" sz="2000" b="1" dirty="0"/>
              <a:t>2. Dipeptide Composition (DPC)</a:t>
            </a:r>
          </a:p>
          <a:p>
            <a:r>
              <a:rPr lang="en-GB" b="1" dirty="0"/>
              <a:t>What:</a:t>
            </a:r>
            <a:r>
              <a:rPr lang="en-GB" dirty="0"/>
              <a:t> Frequency of adjacent amino acid pairs</a:t>
            </a:r>
          </a:p>
          <a:p>
            <a:r>
              <a:rPr lang="en-GB" b="1" dirty="0"/>
              <a:t>Features:</a:t>
            </a:r>
            <a:r>
              <a:rPr lang="en-GB" dirty="0"/>
              <a:t> 400 per sequence (20×20 combinations)</a:t>
            </a:r>
          </a:p>
          <a:p>
            <a:r>
              <a:rPr lang="en-GB" b="1" dirty="0"/>
              <a:t>Captures:</a:t>
            </a:r>
            <a:r>
              <a:rPr lang="en-GB" dirty="0"/>
              <a:t> Local sequence patter</a:t>
            </a:r>
          </a:p>
          <a:p>
            <a:endParaRPr lang="en-GB" sz="2000" b="1" dirty="0"/>
          </a:p>
          <a:p>
            <a:r>
              <a:rPr lang="en-GB" sz="2000" b="1" dirty="0"/>
              <a:t>3. CTD Descriptors</a:t>
            </a:r>
          </a:p>
          <a:p>
            <a:r>
              <a:rPr lang="en-GB" sz="2000" b="1" dirty="0"/>
              <a:t>What:</a:t>
            </a:r>
            <a:r>
              <a:rPr lang="en-GB" sz="2000" dirty="0"/>
              <a:t> Composition-Transition-Distribution</a:t>
            </a:r>
          </a:p>
          <a:p>
            <a:r>
              <a:rPr lang="en-GB" sz="2000" b="1" dirty="0"/>
              <a:t>Features:</a:t>
            </a:r>
            <a:r>
              <a:rPr lang="en-GB" sz="2000" dirty="0"/>
              <a:t> 13 Features</a:t>
            </a:r>
          </a:p>
          <a:p>
            <a:r>
              <a:rPr lang="en-GB" sz="2000" b="1" dirty="0"/>
              <a:t>Captures:</a:t>
            </a:r>
            <a:r>
              <a:rPr lang="en-GB" sz="2000" dirty="0"/>
              <a:t> Global physicochemical properties: 29 features</a:t>
            </a:r>
          </a:p>
          <a:p>
            <a:r>
              <a:rPr lang="en-GB" sz="2000" b="1" dirty="0"/>
              <a:t>Total Combined Features</a:t>
            </a:r>
            <a:r>
              <a:rPr lang="en-GB" sz="2000" dirty="0"/>
              <a:t>: 462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19A0DE-5192-CA2B-1885-BF837C1E0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1586" y="2502426"/>
            <a:ext cx="5527304" cy="2388341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56247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8828A-6377-9FBE-D7DD-3F6A2BF6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459E3E-F01A-5F55-5A57-6CD18008B339}"/>
              </a:ext>
            </a:extLst>
          </p:cNvPr>
          <p:cNvSpPr txBox="1"/>
          <p:nvPr/>
        </p:nvSpPr>
        <p:spPr>
          <a:xfrm>
            <a:off x="1373952" y="1443728"/>
            <a:ext cx="1001864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                            </a:t>
            </a:r>
          </a:p>
          <a:p>
            <a:r>
              <a:rPr lang="en-GB" dirty="0"/>
              <a:t>                                           </a:t>
            </a:r>
            <a:r>
              <a:rPr lang="en-GB" b="1" dirty="0"/>
              <a:t> </a:t>
            </a:r>
            <a:r>
              <a:rPr lang="en-GB" sz="2400" b="1" dirty="0"/>
              <a:t>Model Implementation</a:t>
            </a:r>
          </a:p>
          <a:p>
            <a:r>
              <a:rPr lang="en-GB" sz="2400" b="1" dirty="0"/>
              <a:t>  </a:t>
            </a:r>
          </a:p>
          <a:p>
            <a:endParaRPr lang="en-GB" sz="2400" b="1" dirty="0"/>
          </a:p>
          <a:p>
            <a:r>
              <a:rPr lang="en-GB" sz="2000" b="1" dirty="0"/>
              <a:t>Selected Models:</a:t>
            </a:r>
          </a:p>
          <a:p>
            <a:endParaRPr lang="en-GB" sz="24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b="1" dirty="0" err="1"/>
              <a:t>XGBoost</a:t>
            </a:r>
            <a:endParaRPr lang="en-GB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SVM    (</a:t>
            </a:r>
            <a:r>
              <a:rPr lang="en-GB" dirty="0"/>
              <a:t>Support Vector Machine</a:t>
            </a:r>
            <a:r>
              <a:rPr lang="en-GB" b="1" dirty="0"/>
              <a:t>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Random Forest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Gradient Boosting</a:t>
            </a:r>
            <a:endParaRPr lang="en-GB" b="1" dirty="0"/>
          </a:p>
          <a:p>
            <a:pPr marL="457200" indent="-457200">
              <a:buFont typeface="+mj-lt"/>
              <a:buAutoNum type="arabicPeriod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009728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0992F-D6C3-12C1-18F4-95260A503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85D9B4-173B-1412-20C5-AEFA125F3B45}"/>
              </a:ext>
            </a:extLst>
          </p:cNvPr>
          <p:cNvSpPr txBox="1"/>
          <p:nvPr/>
        </p:nvSpPr>
        <p:spPr>
          <a:xfrm>
            <a:off x="2001416" y="2611089"/>
            <a:ext cx="742250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Model Setup: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Implemented SVM,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XGBoost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Random Forest &amp; Gradient Boosting with stratified 5-fold cross-validation and class weighting.</a:t>
            </a:r>
          </a:p>
          <a:p>
            <a:pPr algn="l">
              <a:spcBef>
                <a:spcPts val="1200"/>
              </a:spcBef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Training Process: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Trained on balanced feature set (SMOTE-processed) with hyperparameter optimization via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GridSearchCV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, evaluated on held-out test set with imbalanced metrics (MCC, F1, ROC-AUC).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73F9C5-7A0C-9133-7AFF-25BAD8D4CA54}"/>
              </a:ext>
            </a:extLst>
          </p:cNvPr>
          <p:cNvSpPr txBox="1"/>
          <p:nvPr/>
        </p:nvSpPr>
        <p:spPr>
          <a:xfrm>
            <a:off x="1098892" y="1324758"/>
            <a:ext cx="6092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Model setup &amp; Training Process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02161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5F56-A49B-CB4C-2A27-6E200D792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1ADE3C-E6B3-7B40-5C89-A7634EB19227}"/>
              </a:ext>
            </a:extLst>
          </p:cNvPr>
          <p:cNvSpPr txBox="1"/>
          <p:nvPr/>
        </p:nvSpPr>
        <p:spPr>
          <a:xfrm>
            <a:off x="1864001" y="2487451"/>
            <a:ext cx="609289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Problem: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6:1 class imbalance (85.6% non-autophagy vs 14.4% autophagy) causing model bias.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Solution: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Applied SMOTE + SMOTE-ENN to generate synthetic autophagy samples and clean overlapping instances.</a:t>
            </a:r>
          </a:p>
          <a:p>
            <a:pPr algn="l">
              <a:spcBef>
                <a:spcPts val="1200"/>
              </a:spcBef>
              <a:buNone/>
            </a:pPr>
            <a:r>
              <a:rPr lang="en-US" b="1" i="0" dirty="0">
                <a:solidFill>
                  <a:srgbClr val="0F1115"/>
                </a:solidFill>
                <a:effectLst/>
                <a:latin typeface="quote-cjk-patch"/>
              </a:rPr>
              <a:t>Result: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 Balanced training dataset (1:1 ratio) with preserved biological variance, enabling fair model evaluation.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7B90E-8B10-A5D6-14DD-B84E35D9B1D8}"/>
              </a:ext>
            </a:extLst>
          </p:cNvPr>
          <p:cNvSpPr txBox="1"/>
          <p:nvPr/>
        </p:nvSpPr>
        <p:spPr>
          <a:xfrm>
            <a:off x="1040532" y="1274811"/>
            <a:ext cx="6092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 Class Imbalance Handling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BF04ED-D988-F316-19E8-8B64F3B9F8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637" y="603649"/>
            <a:ext cx="4600363" cy="155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436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D8636-8F3A-AF5E-30EE-6B1A22026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33D688-870A-0B75-98DB-B39734D3AB47}"/>
              </a:ext>
            </a:extLst>
          </p:cNvPr>
          <p:cNvSpPr txBox="1"/>
          <p:nvPr/>
        </p:nvSpPr>
        <p:spPr>
          <a:xfrm>
            <a:off x="1098892" y="1324758"/>
            <a:ext cx="6092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Feature Selection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3B285E-8517-3235-A16A-27592411B132}"/>
              </a:ext>
            </a:extLst>
          </p:cNvPr>
          <p:cNvSpPr txBox="1"/>
          <p:nvPr/>
        </p:nvSpPr>
        <p:spPr>
          <a:xfrm>
            <a:off x="2550904" y="2254596"/>
            <a:ext cx="60928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Why?</a:t>
            </a:r>
            <a:br>
              <a:rPr lang="en-US" dirty="0"/>
            </a:br>
            <a:r>
              <a:rPr lang="en-US" dirty="0"/>
              <a:t>To reduce dimensionality, minimize overfitting, enhance model interpretability, and improve computational efficiency by retaining only the most informative features.</a:t>
            </a:r>
          </a:p>
          <a:p>
            <a:r>
              <a:rPr lang="en-US" b="1" dirty="0"/>
              <a:t>Method</a:t>
            </a:r>
            <a:br>
              <a:rPr lang="en-US" dirty="0"/>
            </a:br>
            <a:r>
              <a:rPr lang="en-US" dirty="0"/>
              <a:t>We use Recursive Feature Elimination (RFE) with a Random Forest classifier to rank and select the top 30 most important features.</a:t>
            </a:r>
          </a:p>
          <a:p>
            <a:r>
              <a:rPr lang="en-US" b="1" dirty="0"/>
              <a:t>Final Training Data</a:t>
            </a:r>
            <a:br>
              <a:rPr lang="en-US" dirty="0"/>
            </a:br>
            <a:r>
              <a:rPr lang="en-US" dirty="0"/>
              <a:t>The training data now consists of 6,667 samples and 30 selected features, optimized for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1997060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C414F-5FD6-4E35-6203-DF0266ECF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39A8F0-DAA7-8141-B4E9-7757EFD9D226}"/>
              </a:ext>
            </a:extLst>
          </p:cNvPr>
          <p:cNvSpPr txBox="1"/>
          <p:nvPr/>
        </p:nvSpPr>
        <p:spPr>
          <a:xfrm>
            <a:off x="1222297" y="858104"/>
            <a:ext cx="6092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Cross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BF1915-6900-BA6D-6078-9647B39F7D88}"/>
              </a:ext>
            </a:extLst>
          </p:cNvPr>
          <p:cNvSpPr txBox="1"/>
          <p:nvPr/>
        </p:nvSpPr>
        <p:spPr>
          <a:xfrm>
            <a:off x="1252289" y="1422492"/>
            <a:ext cx="60928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5-Fold Stratified Cross-Validation Results</a:t>
            </a:r>
          </a:p>
          <a:p>
            <a:endParaRPr lang="en-US" b="1" dirty="0"/>
          </a:p>
          <a:p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B83BE9-4674-0CEC-9219-2014DEDB1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297" y="1873537"/>
            <a:ext cx="3624526" cy="223832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C66406-7719-BA29-F354-5E368C763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338" y="1873537"/>
            <a:ext cx="3817196" cy="2177873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51C7B08-B52D-FD46-A757-7E8BA6599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742" y="4213601"/>
            <a:ext cx="3917804" cy="2177873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3007357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30ABC-0D86-D267-8B20-0EB6BCE5A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356DB8-EF18-1F74-9112-F8126F301B66}"/>
              </a:ext>
            </a:extLst>
          </p:cNvPr>
          <p:cNvSpPr txBox="1"/>
          <p:nvPr/>
        </p:nvSpPr>
        <p:spPr>
          <a:xfrm>
            <a:off x="1128991" y="1287311"/>
            <a:ext cx="6092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Final Model Evaluation Result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A3413-F807-4B48-DB94-09C2BF2B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681"/>
          <a:stretch>
            <a:fillRect/>
          </a:stretch>
        </p:blipFill>
        <p:spPr>
          <a:xfrm>
            <a:off x="2506856" y="1829327"/>
            <a:ext cx="6506483" cy="443182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469287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64A4E-53BB-05C9-8537-093D51DF5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C5C1A3-100C-914E-3B42-F5963D3DB0C4}"/>
              </a:ext>
            </a:extLst>
          </p:cNvPr>
          <p:cNvSpPr txBox="1"/>
          <p:nvPr/>
        </p:nvSpPr>
        <p:spPr>
          <a:xfrm>
            <a:off x="1203636" y="1162652"/>
            <a:ext cx="6092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Performance Comparison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AB95C0-C9C1-1B9E-BA77-1635140244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99"/>
          <a:stretch>
            <a:fillRect/>
          </a:stretch>
        </p:blipFill>
        <p:spPr>
          <a:xfrm>
            <a:off x="1222297" y="1752366"/>
            <a:ext cx="6708723" cy="167663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D58F9B-D5B1-FF4C-D625-4A948D757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333" y="3647775"/>
            <a:ext cx="9911333" cy="267838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12648968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1666-9965-8757-B56A-EEB6110C1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152B521-6E52-4CF7-21F5-80ADB4F3CE84}"/>
              </a:ext>
            </a:extLst>
          </p:cNvPr>
          <p:cNvSpPr txBox="1"/>
          <p:nvPr/>
        </p:nvSpPr>
        <p:spPr>
          <a:xfrm>
            <a:off x="1203636" y="1175346"/>
            <a:ext cx="6092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Model Comparison summary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1E2BC8-2B7F-DC08-ECF1-854F258BE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264" y="1988940"/>
            <a:ext cx="6092890" cy="401095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</p:spTree>
    <p:extLst>
      <p:ext uri="{BB962C8B-B14F-4D97-AF65-F5344CB8AC3E}">
        <p14:creationId xmlns:p14="http://schemas.microsoft.com/office/powerpoint/2010/main" val="24703320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5257-6583-91A5-BDCC-B82B967CA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FA7895-3689-12CF-82EA-FF74CA509E11}"/>
              </a:ext>
            </a:extLst>
          </p:cNvPr>
          <p:cNvSpPr txBox="1"/>
          <p:nvPr/>
        </p:nvSpPr>
        <p:spPr>
          <a:xfrm>
            <a:off x="1171959" y="1268651"/>
            <a:ext cx="6092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Visual Results summary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0A5168-02C0-7C00-7D08-47E96D2CF995}"/>
              </a:ext>
            </a:extLst>
          </p:cNvPr>
          <p:cNvSpPr txBox="1"/>
          <p:nvPr/>
        </p:nvSpPr>
        <p:spPr>
          <a:xfrm>
            <a:off x="1203636" y="1730316"/>
            <a:ext cx="60928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Confusion Matrices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FF04F1-3A89-6D16-94FD-A15428D07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246" y="2537526"/>
            <a:ext cx="3867160" cy="31451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57CDC0-569A-C278-9F9F-98DE3A140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596" y="893517"/>
            <a:ext cx="4001480" cy="544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33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638B-D3FD-0B81-047F-6C403A2FA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F0882DE-391C-2258-DE38-2B3BCD5931FC}"/>
              </a:ext>
            </a:extLst>
          </p:cNvPr>
          <p:cNvSpPr txBox="1"/>
          <p:nvPr/>
        </p:nvSpPr>
        <p:spPr>
          <a:xfrm>
            <a:off x="1869233" y="3044279"/>
            <a:ext cx="609289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ROC Curves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8ECC8-F66B-826F-CBF9-55F74EEC6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172" y="475861"/>
            <a:ext cx="4463902" cy="590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537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DA50-9FB5-05D9-1709-5546305F5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D23909-CEE3-2106-B804-806BFC6CA64D}"/>
              </a:ext>
            </a:extLst>
          </p:cNvPr>
          <p:cNvSpPr txBox="1"/>
          <p:nvPr/>
        </p:nvSpPr>
        <p:spPr>
          <a:xfrm>
            <a:off x="1362269" y="1276428"/>
            <a:ext cx="926055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                           </a:t>
            </a:r>
            <a:r>
              <a:rPr lang="en-GB" sz="2400" b="1" dirty="0"/>
              <a:t>Comparative Analysis Summary</a:t>
            </a:r>
            <a:br>
              <a:rPr lang="en-GB" dirty="0"/>
            </a:br>
            <a:endParaRPr lang="en-GB" dirty="0"/>
          </a:p>
          <a:p>
            <a:endParaRPr lang="en-GB" sz="2000" b="1" dirty="0"/>
          </a:p>
          <a:p>
            <a:pPr marL="457200" indent="-457200">
              <a:buAutoNum type="arabicPeriod"/>
            </a:pPr>
            <a:r>
              <a:rPr lang="en-GB" sz="2000" b="1" dirty="0"/>
              <a:t>Best Performing Model:</a:t>
            </a:r>
          </a:p>
          <a:p>
            <a:pPr marL="457200" indent="-457200">
              <a:buAutoNum type="arabicPeriod"/>
            </a:pPr>
            <a:endParaRPr lang="en-GB" sz="2000" b="1" dirty="0"/>
          </a:p>
          <a:p>
            <a:r>
              <a:rPr lang="en-GB" dirty="0"/>
              <a:t>Highest overall predictive power on test data</a:t>
            </a:r>
          </a:p>
          <a:p>
            <a:endParaRPr lang="en-GB" dirty="0"/>
          </a:p>
          <a:p>
            <a:endParaRPr lang="en-GB" b="1" dirty="0"/>
          </a:p>
          <a:p>
            <a:pPr marL="457200" indent="-457200">
              <a:buAutoNum type="arabicPeriod"/>
            </a:pPr>
            <a:endParaRPr lang="en-GB" sz="2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2D04B-A559-DC0A-9867-79C2AAE78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193" y="3216680"/>
            <a:ext cx="6487430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39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7E648-B06E-2B9D-CE95-BCC3115F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500A6C-EBCB-67C9-9CF7-9840AFDCD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670005"/>
              </p:ext>
            </p:extLst>
          </p:nvPr>
        </p:nvGraphicFramePr>
        <p:xfrm>
          <a:off x="1080796" y="1917891"/>
          <a:ext cx="10515600" cy="73152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84221115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578620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863746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366095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133224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F1-Score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MCC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AUC-ROC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5576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SVM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0.2764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0.2780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0.1185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0.6111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03294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3A6B203-F803-BD97-A91B-E55AEB360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91" y="1278373"/>
            <a:ext cx="3983976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Performance Comparison: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47A08A0-6BF7-FB3B-4AE9-26BF3134C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796" y="2225644"/>
            <a:ext cx="9649408" cy="45719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57A0BF1-1341-285B-D432-4E186B4EF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796" y="2881366"/>
            <a:ext cx="883447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Strengths &amp; Weaknesses: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Vector Machine (SVM):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✓ Best overall model based on combined performance score (Overall Score: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0.3688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✓ Most consistent model (Consistency Score: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0.4405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✓ Best generalization performance (smallest train–test gap: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0.7236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✓ High specificity (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0.9565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suitable for confirmatory testing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✓ Balanced ranking across accuracy, F1-score, and MCC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✗ Moderate performance in minority class detection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✗ Lower MCC compared to ideal balanced classifiers</a:t>
            </a:r>
          </a:p>
        </p:txBody>
      </p:sp>
    </p:spTree>
    <p:extLst>
      <p:ext uri="{BB962C8B-B14F-4D97-AF65-F5344CB8AC3E}">
        <p14:creationId xmlns:p14="http://schemas.microsoft.com/office/powerpoint/2010/main" val="37857944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0BC2E-46FC-2E88-43FF-BE069F827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305A16-C642-0031-B82B-F1F8CF528691}"/>
              </a:ext>
            </a:extLst>
          </p:cNvPr>
          <p:cNvSpPr txBox="1"/>
          <p:nvPr/>
        </p:nvSpPr>
        <p:spPr>
          <a:xfrm>
            <a:off x="2904619" y="1628507"/>
            <a:ext cx="667512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/>
              <a:t>Project Achievements :</a:t>
            </a:r>
            <a:br>
              <a:rPr lang="en-GB" dirty="0"/>
            </a:br>
            <a:endParaRPr lang="en-GB" b="1" dirty="0"/>
          </a:p>
          <a:p>
            <a:pPr>
              <a:lnSpc>
                <a:spcPct val="150000"/>
              </a:lnSpc>
            </a:pPr>
            <a:r>
              <a:rPr lang="en-GB" sz="2000" b="1" dirty="0"/>
              <a:t>What We Accomplished</a:t>
            </a:r>
            <a:r>
              <a:rPr lang="en-GB" b="1" dirty="0"/>
              <a:t>:</a:t>
            </a:r>
            <a:br>
              <a:rPr lang="en-GB" dirty="0"/>
            </a:br>
            <a:r>
              <a:rPr lang="en-GB" dirty="0"/>
              <a:t> ✅ Built complete ML pipeline for protein classification</a:t>
            </a:r>
            <a:br>
              <a:rPr lang="en-GB" dirty="0"/>
            </a:br>
            <a:r>
              <a:rPr lang="en-GB" dirty="0"/>
              <a:t>✅ Compared linear vs. ensemble methods</a:t>
            </a:r>
            <a:br>
              <a:rPr lang="en-GB" dirty="0"/>
            </a:br>
            <a:r>
              <a:rPr lang="en-GB" dirty="0"/>
              <a:t>✅ Achieved 83% accuracy with Random Forest</a:t>
            </a:r>
            <a:br>
              <a:rPr lang="en-GB" dirty="0"/>
            </a:br>
            <a:r>
              <a:rPr lang="en-GB" dirty="0"/>
              <a:t>✅ Provided actionable insights for bioinformatics research</a:t>
            </a:r>
            <a:br>
              <a:rPr lang="en-GB" dirty="0"/>
            </a:br>
            <a:r>
              <a:rPr lang="en-GB" dirty="0"/>
              <a:t>✅ Saved trained models for future u</a:t>
            </a:r>
          </a:p>
        </p:txBody>
      </p:sp>
    </p:spTree>
    <p:extLst>
      <p:ext uri="{BB962C8B-B14F-4D97-AF65-F5344CB8AC3E}">
        <p14:creationId xmlns:p14="http://schemas.microsoft.com/office/powerpoint/2010/main" val="43899193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7326</TotalTime>
  <Words>1202</Words>
  <Application>Microsoft Office PowerPoint</Application>
  <PresentationFormat>Widescreen</PresentationFormat>
  <Paragraphs>190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quote-cjk-patch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Hassan Abbas</dc:creator>
  <cp:lastModifiedBy>Syed Hassan Abbas</cp:lastModifiedBy>
  <cp:revision>3</cp:revision>
  <dcterms:created xsi:type="dcterms:W3CDTF">2025-12-16T16:21:39Z</dcterms:created>
  <dcterms:modified xsi:type="dcterms:W3CDTF">2025-12-21T18:36:09Z</dcterms:modified>
</cp:coreProperties>
</file>